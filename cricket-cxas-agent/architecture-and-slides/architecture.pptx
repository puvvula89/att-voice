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Google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arch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arch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8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5" Type="http://schemas.openxmlformats.org/officeDocument/2006/relationships/image" Target="../media/image5.png"/><Relationship Id="rId14" Type="http://schemas.openxmlformats.org/officeDocument/2006/relationships/image" Target="../media/image6.png"/><Relationship Id="rId17" Type="http://schemas.openxmlformats.org/officeDocument/2006/relationships/image" Target="../media/image14.png"/><Relationship Id="rId16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7163" y="157163"/>
            <a:ext cx="4829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Cricket Care Troubleshooting Agent</a:t>
            </a:r>
            <a:endParaRPr sz="141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381250" y="714375"/>
            <a:ext cx="5191200" cy="2714700"/>
          </a:xfrm>
          <a:prstGeom prst="rect">
            <a:avLst/>
          </a:prstGeom>
          <a:solidFill>
            <a:srgbClr val="F8FAFD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476500" y="904875"/>
            <a:ext cx="2381400" cy="24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715250" y="714375"/>
            <a:ext cx="1238400" cy="2714700"/>
          </a:xfrm>
          <a:prstGeom prst="rect">
            <a:avLst/>
          </a:prstGeom>
          <a:solidFill>
            <a:srgbClr val="F3F7EF"/>
          </a:solidFill>
          <a:ln cap="flat" cmpd="sng" w="7150">
            <a:solidFill>
              <a:srgbClr val="B9C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90500" y="3667125"/>
            <a:ext cx="8763000" cy="1285800"/>
          </a:xfrm>
          <a:prstGeom prst="rect">
            <a:avLst/>
          </a:prstGeom>
          <a:solidFill>
            <a:srgbClr val="F1F8F3"/>
          </a:solidFill>
          <a:ln cap="flat" cmpd="sng" w="715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619250" y="3881438"/>
            <a:ext cx="4762500" cy="881100"/>
          </a:xfrm>
          <a:prstGeom prst="rect">
            <a:avLst/>
          </a:prstGeom>
          <a:noFill/>
          <a:ln cap="flat" cmpd="sng" w="7150">
            <a:solidFill>
              <a:srgbClr val="A8D5B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2457450" y="647700"/>
            <a:ext cx="8985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075" y="661988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2614613" y="614363"/>
            <a:ext cx="77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</a:t>
            </a:r>
            <a:endParaRPr b="1" sz="60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791450" y="647700"/>
            <a:ext cx="6312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9075" y="661988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7948613" y="614363"/>
            <a:ext cx="507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Cricket</a:t>
            </a:r>
            <a:endParaRPr b="1" sz="60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266700" y="3600450"/>
            <a:ext cx="1646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5" y="3614738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423863" y="3567113"/>
            <a:ext cx="152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Content pipeline · offline</a:t>
            </a:r>
            <a:endParaRPr b="1" sz="60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695450" y="3814763"/>
            <a:ext cx="2756100" cy="1335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3075" y="3829050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1852613" y="3781425"/>
            <a:ext cx="263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Pipeline job · Cloud Run · weekly via Cloud Scheduler</a:t>
            </a:r>
            <a:endParaRPr b="1"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2" name="Google Shape;72;p13"/>
          <p:cNvCxnSpPr/>
          <p:nvPr/>
        </p:nvCxnSpPr>
        <p:spPr>
          <a:xfrm>
            <a:off x="1047750" y="1666875"/>
            <a:ext cx="1191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3" name="Google Shape;73;p13"/>
          <p:cNvCxnSpPr/>
          <p:nvPr/>
        </p:nvCxnSpPr>
        <p:spPr>
          <a:xfrm>
            <a:off x="2095500" y="1666875"/>
            <a:ext cx="4764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" name="Google Shape;74;p13"/>
          <p:cNvCxnSpPr/>
          <p:nvPr/>
        </p:nvCxnSpPr>
        <p:spPr>
          <a:xfrm>
            <a:off x="595313" y="2047875"/>
            <a:ext cx="4800" cy="5715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5" name="Google Shape;75;p13"/>
          <p:cNvCxnSpPr/>
          <p:nvPr/>
        </p:nvCxnSpPr>
        <p:spPr>
          <a:xfrm>
            <a:off x="595313" y="2619375"/>
            <a:ext cx="5715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/>
          <p:nvPr/>
        </p:nvCxnSpPr>
        <p:spPr>
          <a:xfrm>
            <a:off x="2095500" y="2619375"/>
            <a:ext cx="1905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 flipH="1" rot="10800000">
            <a:off x="2286000" y="1752675"/>
            <a:ext cx="4800" cy="8667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2286000" y="1752600"/>
            <a:ext cx="2859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/>
          <p:nvPr/>
        </p:nvCxnSpPr>
        <p:spPr>
          <a:xfrm>
            <a:off x="4238625" y="1809750"/>
            <a:ext cx="4800" cy="2859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/>
          <p:nvPr/>
        </p:nvCxnSpPr>
        <p:spPr>
          <a:xfrm>
            <a:off x="3095625" y="1809750"/>
            <a:ext cx="4800" cy="285900"/>
          </a:xfrm>
          <a:prstGeom prst="straightConnector1">
            <a:avLst/>
          </a:prstGeom>
          <a:noFill/>
          <a:ln cap="flat" cmpd="sng" w="10725">
            <a:solidFill>
              <a:srgbClr val="9AA3B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/>
          <p:nvPr/>
        </p:nvCxnSpPr>
        <p:spPr>
          <a:xfrm>
            <a:off x="4762500" y="2214563"/>
            <a:ext cx="2382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3"/>
          <p:cNvCxnSpPr/>
          <p:nvPr/>
        </p:nvCxnSpPr>
        <p:spPr>
          <a:xfrm flipH="1" rot="10800000">
            <a:off x="5000625" y="1428863"/>
            <a:ext cx="4800" cy="7857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3"/>
          <p:cNvCxnSpPr/>
          <p:nvPr/>
        </p:nvCxnSpPr>
        <p:spPr>
          <a:xfrm>
            <a:off x="5000625" y="1428750"/>
            <a:ext cx="2382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3"/>
          <p:cNvCxnSpPr/>
          <p:nvPr/>
        </p:nvCxnSpPr>
        <p:spPr>
          <a:xfrm>
            <a:off x="4762500" y="2500313"/>
            <a:ext cx="4764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3"/>
          <p:cNvCxnSpPr/>
          <p:nvPr/>
        </p:nvCxnSpPr>
        <p:spPr>
          <a:xfrm>
            <a:off x="5762625" y="1952625"/>
            <a:ext cx="4800" cy="2859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3"/>
          <p:cNvCxnSpPr/>
          <p:nvPr/>
        </p:nvCxnSpPr>
        <p:spPr>
          <a:xfrm>
            <a:off x="6905625" y="1952625"/>
            <a:ext cx="4800" cy="2859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3"/>
          <p:cNvCxnSpPr/>
          <p:nvPr/>
        </p:nvCxnSpPr>
        <p:spPr>
          <a:xfrm>
            <a:off x="7429500" y="1285875"/>
            <a:ext cx="3810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/>
          <p:nvPr/>
        </p:nvCxnSpPr>
        <p:spPr>
          <a:xfrm>
            <a:off x="7429500" y="1809750"/>
            <a:ext cx="1905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/>
          <p:nvPr/>
        </p:nvCxnSpPr>
        <p:spPr>
          <a:xfrm>
            <a:off x="7620000" y="1809750"/>
            <a:ext cx="4800" cy="2382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/>
          <p:nvPr/>
        </p:nvCxnSpPr>
        <p:spPr>
          <a:xfrm>
            <a:off x="7620000" y="2047875"/>
            <a:ext cx="1905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3"/>
          <p:cNvCxnSpPr/>
          <p:nvPr/>
        </p:nvCxnSpPr>
        <p:spPr>
          <a:xfrm>
            <a:off x="1428750" y="4333875"/>
            <a:ext cx="2859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3"/>
          <p:cNvCxnSpPr/>
          <p:nvPr/>
        </p:nvCxnSpPr>
        <p:spPr>
          <a:xfrm>
            <a:off x="2786063" y="4333875"/>
            <a:ext cx="954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/>
          <p:nvPr/>
        </p:nvCxnSpPr>
        <p:spPr>
          <a:xfrm>
            <a:off x="3952875" y="4333875"/>
            <a:ext cx="954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/>
          <p:nvPr/>
        </p:nvCxnSpPr>
        <p:spPr>
          <a:xfrm>
            <a:off x="5119688" y="4333875"/>
            <a:ext cx="954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/>
          <p:nvPr/>
        </p:nvCxnSpPr>
        <p:spPr>
          <a:xfrm>
            <a:off x="6286500" y="4333875"/>
            <a:ext cx="2859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3"/>
          <p:cNvCxnSpPr/>
          <p:nvPr/>
        </p:nvCxnSpPr>
        <p:spPr>
          <a:xfrm flipH="1" rot="10800000">
            <a:off x="7096125" y="2762213"/>
            <a:ext cx="4800" cy="12621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3"/>
          <p:cNvCxnSpPr/>
          <p:nvPr/>
        </p:nvCxnSpPr>
        <p:spPr>
          <a:xfrm flipH="1" rot="10800000">
            <a:off x="6762750" y="3786113"/>
            <a:ext cx="4800" cy="2382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/>
          <p:nvPr/>
        </p:nvCxnSpPr>
        <p:spPr>
          <a:xfrm flipH="1">
            <a:off x="5857950" y="3786188"/>
            <a:ext cx="9048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/>
          <p:nvPr/>
        </p:nvCxnSpPr>
        <p:spPr>
          <a:xfrm flipH="1" rot="10800000">
            <a:off x="5857875" y="2762288"/>
            <a:ext cx="4800" cy="10239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3"/>
          <p:cNvCxnSpPr/>
          <p:nvPr/>
        </p:nvCxnSpPr>
        <p:spPr>
          <a:xfrm>
            <a:off x="7000875" y="4643438"/>
            <a:ext cx="4800" cy="204900"/>
          </a:xfrm>
          <a:prstGeom prst="straightConnector1">
            <a:avLst/>
          </a:prstGeom>
          <a:noFill/>
          <a:ln cap="flat" cmpd="sng" w="10725">
            <a:solidFill>
              <a:srgbClr val="E374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 flipH="1">
            <a:off x="1533675" y="4848225"/>
            <a:ext cx="5467200" cy="4800"/>
          </a:xfrm>
          <a:prstGeom prst="straightConnector1">
            <a:avLst/>
          </a:prstGeom>
          <a:noFill/>
          <a:ln cap="flat" cmpd="sng" w="10725">
            <a:solidFill>
              <a:srgbClr val="E374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/>
          <p:nvPr/>
        </p:nvCxnSpPr>
        <p:spPr>
          <a:xfrm flipH="1" rot="10800000">
            <a:off x="1533525" y="2905125"/>
            <a:ext cx="4800" cy="1943100"/>
          </a:xfrm>
          <a:prstGeom prst="straightConnector1">
            <a:avLst/>
          </a:prstGeom>
          <a:noFill/>
          <a:ln cap="flat" cmpd="sng" w="10725">
            <a:solidFill>
              <a:srgbClr val="E37400"/>
            </a:solidFill>
            <a:prstDash val="dot"/>
            <a:round/>
            <a:headEnd len="med" w="med" type="none"/>
            <a:tailEnd len="med" w="med" type="triangle"/>
          </a:ln>
        </p:spPr>
      </p:cxnSp>
      <p:pic>
        <p:nvPicPr>
          <p:cNvPr id="103" name="Google Shape;10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1750" y="99536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2786063" y="947738"/>
            <a:ext cx="20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Gemini Enterprise for CX</a:t>
            </a:r>
            <a:endParaRPr b="1" sz="74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CX Agent Studio app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190500" y="1571625"/>
            <a:ext cx="857400" cy="47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6225" y="16478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471488" y="1604963"/>
            <a:ext cx="590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Customer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166813" y="1524000"/>
            <a:ext cx="928800" cy="571500"/>
          </a:xfrm>
          <a:prstGeom prst="roundRect">
            <a:avLst>
              <a:gd fmla="val 16667" name="adj"/>
            </a:avLst>
          </a:prstGeom>
          <a:solidFill>
            <a:srgbClr val="F6F6F7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52538" y="16002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1447800" y="1557338"/>
            <a:ext cx="662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Cricket IVR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VAIL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166813" y="2333625"/>
            <a:ext cx="928800" cy="571500"/>
          </a:xfrm>
          <a:prstGeom prst="roundRect">
            <a:avLst>
              <a:gd fmla="val 16667" name="adj"/>
            </a:avLst>
          </a:prstGeom>
          <a:solidFill>
            <a:srgbClr val="F6F6F7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52538" y="24098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1447800" y="2366963"/>
            <a:ext cx="662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Chat UI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Demo web app + relay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2571750" y="1381125"/>
            <a:ext cx="2190900" cy="4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57475" y="14573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2852738" y="1414463"/>
            <a:ext cx="1924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Care Concierge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Root agent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2571750" y="2095500"/>
            <a:ext cx="1047900" cy="47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9AA3B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57475" y="2171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2852738" y="2128838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Billing</a:t>
            </a:r>
            <a:endParaRPr b="1" sz="67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Sub-agent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3714750" y="2095500"/>
            <a:ext cx="1047900" cy="47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0475" y="2171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3995738" y="2128838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Tech Support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Sub-agent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571750" y="2809875"/>
            <a:ext cx="21909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57475" y="29146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2852738" y="2862263"/>
            <a:ext cx="1924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Gemini Live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Native-audio model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238750" y="952500"/>
            <a:ext cx="2190900" cy="10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4475" y="1028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 txBox="1"/>
          <p:nvPr/>
        </p:nvSpPr>
        <p:spPr>
          <a:xfrm>
            <a:off x="5519738" y="985838"/>
            <a:ext cx="1924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MCP server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Cloud Run · stateless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5324475" y="1266825"/>
            <a:ext cx="2019300" cy="1761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357813" y="1233488"/>
            <a:ext cx="1952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Tutorial tools · checkpoint</a:t>
            </a:r>
            <a:endParaRPr b="1" sz="55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5324475" y="1490663"/>
            <a:ext cx="2019300" cy="1761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5357813" y="1457325"/>
            <a:ext cx="1952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Account and network tools</a:t>
            </a:r>
            <a:endParaRPr b="1" sz="55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5324475" y="1714500"/>
            <a:ext cx="2019300" cy="1761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5357813" y="1681163"/>
            <a:ext cx="1952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SMS and ticket tools</a:t>
            </a:r>
            <a:endParaRPr b="1" sz="55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5238750" y="2238375"/>
            <a:ext cx="1047900" cy="52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24475" y="23145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5519738" y="2271713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Agent Search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Data store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6381750" y="2238375"/>
            <a:ext cx="1047900" cy="52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67475" y="23145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 txBox="1"/>
          <p:nvPr/>
        </p:nvSpPr>
        <p:spPr>
          <a:xfrm>
            <a:off x="6662738" y="2271713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Tutorial store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Firestore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7810500" y="952500"/>
            <a:ext cx="1047900" cy="66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896225" y="1028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8091488" y="985838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Cricket APIs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Account · Network · Tickets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7810500" y="1809750"/>
            <a:ext cx="1047900" cy="47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96225" y="18859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8091488" y="1843088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SMS API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381000" y="4024313"/>
            <a:ext cx="10479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/>
          <p:nvPr/>
        </p:nvSpPr>
        <p:spPr>
          <a:xfrm>
            <a:off x="661988" y="4057650"/>
            <a:ext cx="781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Cricket support site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or Ozmo content feed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1714500" y="4024313"/>
            <a:ext cx="10716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0225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3"/>
          <p:cNvSpPr txBox="1"/>
          <p:nvPr/>
        </p:nvSpPr>
        <p:spPr>
          <a:xfrm>
            <a:off x="1995488" y="4057650"/>
            <a:ext cx="804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Fetch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Headless browser · text + images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2881313" y="4024313"/>
            <a:ext cx="10716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38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 txBox="1"/>
          <p:nvPr/>
        </p:nvSpPr>
        <p:spPr>
          <a:xfrm>
            <a:off x="3162300" y="4057650"/>
            <a:ext cx="804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Extract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Tutorial data · step graph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4048125" y="4024313"/>
            <a:ext cx="10716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133850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3"/>
          <p:cNvSpPr txBox="1"/>
          <p:nvPr/>
        </p:nvSpPr>
        <p:spPr>
          <a:xfrm>
            <a:off x="4329113" y="4057650"/>
            <a:ext cx="804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Validate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Schema · branches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214938" y="4024313"/>
            <a:ext cx="10716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00663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/>
          <p:nvPr/>
        </p:nvSpPr>
        <p:spPr>
          <a:xfrm>
            <a:off x="5495925" y="4057650"/>
            <a:ext cx="804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Enrich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Gemini · safety flags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572250" y="4024313"/>
            <a:ext cx="857400" cy="6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57975" y="41005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 txBox="1"/>
          <p:nvPr/>
        </p:nvSpPr>
        <p:spPr>
          <a:xfrm>
            <a:off x="6853238" y="4057650"/>
            <a:ext cx="590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0">
                <a:solidFill>
                  <a:srgbClr val="1F2430"/>
                </a:solidFill>
                <a:latin typeface="Google Sans"/>
                <a:ea typeface="Google Sans"/>
                <a:cs typeface="Google Sans"/>
                <a:sym typeface="Google Sans"/>
              </a:rPr>
              <a:t>Cloud Storage</a:t>
            </a:r>
            <a:endParaRPr b="1" sz="670">
              <a:solidFill>
                <a:srgbClr val="1F243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Content + step images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2095500" y="1504950"/>
            <a:ext cx="476400" cy="13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Bidi-SAC</a:t>
            </a:r>
            <a:endParaRPr b="1" sz="490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5007293" y="1333500"/>
            <a:ext cx="2247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4872038" y="1300163"/>
            <a:ext cx="49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MCP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648200" y="2609850"/>
            <a:ext cx="7050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4614863" y="2576513"/>
            <a:ext cx="7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data store tool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630228" y="2057400"/>
            <a:ext cx="2649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5514975" y="2024063"/>
            <a:ext cx="49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find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6553200" y="2057400"/>
            <a:ext cx="7050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6519863" y="2024063"/>
            <a:ext cx="7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walk · progress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487602" y="1181100"/>
            <a:ext cx="2649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7372350" y="1147763"/>
            <a:ext cx="49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REST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685473" y="3095625"/>
            <a:ext cx="3447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5610225" y="3062288"/>
            <a:ext cx="49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import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6923723" y="3095625"/>
            <a:ext cx="3447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6848475" y="3062288"/>
            <a:ext cx="495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upsert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293745" y="4791075"/>
            <a:ext cx="1985100" cy="10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3260407" y="4757738"/>
            <a:ext cx="2051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step images, served to the chat UI by the relay</a:t>
            </a:r>
            <a:endParaRPr sz="49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82" name="Google Shape;182;p13"/>
          <p:cNvCxnSpPr/>
          <p:nvPr/>
        </p:nvCxnSpPr>
        <p:spPr>
          <a:xfrm>
            <a:off x="5619750" y="314325"/>
            <a:ext cx="209700" cy="4800"/>
          </a:xfrm>
          <a:prstGeom prst="straightConnector1">
            <a:avLst/>
          </a:prstGeom>
          <a:noFill/>
          <a:ln cap="flat" cmpd="sng" w="10725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13"/>
          <p:cNvSpPr txBox="1"/>
          <p:nvPr/>
        </p:nvSpPr>
        <p:spPr>
          <a:xfrm>
            <a:off x="5834063" y="223838"/>
            <a:ext cx="490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Live call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84" name="Google Shape;184;p13"/>
          <p:cNvCxnSpPr/>
          <p:nvPr/>
        </p:nvCxnSpPr>
        <p:spPr>
          <a:xfrm>
            <a:off x="6347936" y="314325"/>
            <a:ext cx="209700" cy="4800"/>
          </a:xfrm>
          <a:prstGeom prst="straightConnector1">
            <a:avLst/>
          </a:prstGeom>
          <a:noFill/>
          <a:ln cap="flat" cmpd="sng" w="10725">
            <a:solidFill>
              <a:srgbClr val="18803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" name="Google Shape;185;p13"/>
          <p:cNvSpPr txBox="1"/>
          <p:nvPr/>
        </p:nvSpPr>
        <p:spPr>
          <a:xfrm>
            <a:off x="6562249" y="223838"/>
            <a:ext cx="760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Content pipeline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86" name="Google Shape;186;p13"/>
          <p:cNvCxnSpPr/>
          <p:nvPr/>
        </p:nvCxnSpPr>
        <p:spPr>
          <a:xfrm>
            <a:off x="7346156" y="314325"/>
            <a:ext cx="209700" cy="4800"/>
          </a:xfrm>
          <a:prstGeom prst="straightConnector1">
            <a:avLst/>
          </a:prstGeom>
          <a:noFill/>
          <a:ln cap="flat" cmpd="sng" w="10725">
            <a:solidFill>
              <a:srgbClr val="E374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7" name="Google Shape;187;p13"/>
          <p:cNvSpPr txBox="1"/>
          <p:nvPr/>
        </p:nvSpPr>
        <p:spPr>
          <a:xfrm>
            <a:off x="7560469" y="223838"/>
            <a:ext cx="567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">
                <a:solidFill>
                  <a:srgbClr val="5B6474"/>
                </a:solidFill>
                <a:latin typeface="Google Sans"/>
                <a:ea typeface="Google Sans"/>
                <a:cs typeface="Google Sans"/>
                <a:sym typeface="Google Sans"/>
              </a:rPr>
              <a:t>Step images</a:t>
            </a:r>
            <a:endParaRPr sz="530">
              <a:solidFill>
                <a:srgbClr val="5B64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